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1818" y="-6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0000" cy="774000"/>
          </a:xfrm>
          <a:prstGeom prst="rect">
            <a:avLst/>
          </a:prstGeom>
          <a:solidFill>
            <a:srgbClr val="F4F7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98500"/>
            <a:ext cx="151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 err="1">
                <a:solidFill>
                  <a:srgbClr val="1F3C88"/>
                </a:solidFill>
                <a:latin typeface="Microsoft YaHei"/>
              </a:rPr>
              <a:t>胡庆龙</a:t>
            </a:r>
            <a:endParaRPr sz="2200" b="1" dirty="0">
              <a:solidFill>
                <a:srgbClr val="1F3C88"/>
              </a:solidFill>
              <a:latin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0630" y="453600"/>
            <a:ext cx="31970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dirty="0" err="1">
                <a:solidFill>
                  <a:srgbClr val="252B36"/>
                </a:solidFill>
                <a:latin typeface="Microsoft YaHei"/>
              </a:rPr>
              <a:t>算法工程师</a:t>
            </a:r>
            <a:r>
              <a:rPr sz="900" b="0" dirty="0">
                <a:solidFill>
                  <a:srgbClr val="252B36"/>
                </a:solidFill>
                <a:latin typeface="Microsoft YaHei"/>
              </a:rPr>
              <a:t> / </a:t>
            </a:r>
            <a:r>
              <a:rPr sz="900" b="0" dirty="0" err="1">
                <a:solidFill>
                  <a:srgbClr val="252B36"/>
                </a:solidFill>
                <a:latin typeface="Microsoft YaHei"/>
              </a:rPr>
              <a:t>计算机视觉算法工程师</a:t>
            </a:r>
            <a:r>
              <a:rPr sz="900" b="0" dirty="0">
                <a:solidFill>
                  <a:srgbClr val="252B36"/>
                </a:solidFill>
                <a:latin typeface="Microsoft YaHei"/>
              </a:rPr>
              <a:t> / </a:t>
            </a:r>
            <a:r>
              <a:rPr lang="en-US" altLang="zh-CN" sz="900" b="0" dirty="0">
                <a:solidFill>
                  <a:srgbClr val="252B36"/>
                </a:solidFill>
                <a:latin typeface="Microsoft YaHei"/>
              </a:rPr>
              <a:t>agent</a:t>
            </a:r>
            <a:r>
              <a:rPr lang="zh-CN" altLang="en-US" sz="900" b="0" dirty="0">
                <a:solidFill>
                  <a:srgbClr val="252B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开发工程师</a:t>
            </a:r>
            <a:endParaRPr sz="900" b="0" dirty="0">
              <a:solidFill>
                <a:srgbClr val="252B3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80000" y="208800"/>
            <a:ext cx="3311999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19" b="0">
                <a:solidFill>
                  <a:srgbClr val="252B36"/>
                </a:solidFill>
                <a:latin typeface="Microsoft YaHei"/>
              </a:rPr>
              <a:t>邮箱：1367676275@qq.com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80000" y="406799"/>
            <a:ext cx="3311999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19" b="0">
                <a:solidFill>
                  <a:srgbClr val="252B36"/>
                </a:solidFill>
                <a:latin typeface="Microsoft YaHei"/>
              </a:rPr>
              <a:t>手机：13385790942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954000"/>
            <a:ext cx="1404000" cy="198000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4800" y="944700"/>
            <a:ext cx="1224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dirty="0" err="1">
                <a:solidFill>
                  <a:srgbClr val="FFFFFF"/>
                </a:solidFill>
                <a:latin typeface="Microsoft YaHei"/>
              </a:rPr>
              <a:t>教育背景</a:t>
            </a:r>
            <a:endParaRPr sz="1000" b="1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745999" y="1054800"/>
            <a:ext cx="5112000" cy="14400"/>
          </a:xfrm>
          <a:prstGeom prst="rect">
            <a:avLst/>
          </a:prstGeom>
          <a:solidFill>
            <a:srgbClr val="CF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8000" y="1220410"/>
            <a:ext cx="3402000" cy="226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 b="1" dirty="0" err="1">
                <a:solidFill>
                  <a:srgbClr val="252B36"/>
                </a:solidFill>
                <a:latin typeface="Microsoft YaHei"/>
              </a:rPr>
              <a:t>河北经贸大学</a:t>
            </a:r>
            <a:r>
              <a:rPr sz="869" b="1" dirty="0">
                <a:solidFill>
                  <a:srgbClr val="252B36"/>
                </a:solidFill>
                <a:latin typeface="Microsoft YaHei"/>
              </a:rPr>
              <a:t> | </a:t>
            </a:r>
            <a:r>
              <a:rPr sz="869" b="1" dirty="0" err="1">
                <a:solidFill>
                  <a:srgbClr val="252B36"/>
                </a:solidFill>
                <a:latin typeface="Microsoft YaHei"/>
              </a:rPr>
              <a:t>计算机科学与技术</a:t>
            </a:r>
            <a:r>
              <a:rPr sz="869" b="1" dirty="0">
                <a:solidFill>
                  <a:srgbClr val="252B36"/>
                </a:solidFill>
                <a:latin typeface="Microsoft YaHei"/>
              </a:rPr>
              <a:t> | </a:t>
            </a:r>
            <a:r>
              <a:rPr sz="869" b="1" dirty="0" err="1">
                <a:solidFill>
                  <a:srgbClr val="252B36"/>
                </a:solidFill>
                <a:latin typeface="Microsoft YaHei"/>
              </a:rPr>
              <a:t>硕士</a:t>
            </a:r>
            <a:r>
              <a:rPr sz="869" b="1" dirty="0">
                <a:solidFill>
                  <a:srgbClr val="252B36"/>
                </a:solidFill>
                <a:latin typeface="Microsoft YaHei"/>
              </a:rPr>
              <a:t> | 2023.09 - 2026.06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0000" y="1226760"/>
            <a:ext cx="180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19" b="0">
                <a:solidFill>
                  <a:srgbClr val="5B6473"/>
                </a:solidFill>
                <a:latin typeface="Microsoft YaHei"/>
              </a:rPr>
              <a:t>GPA：3.8/4.0（专业前20%）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000" y="1381560"/>
            <a:ext cx="21493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 err="1">
                <a:solidFill>
                  <a:srgbClr val="5B6473"/>
                </a:solidFill>
                <a:latin typeface="Microsoft YaHei"/>
              </a:rPr>
              <a:t>相关课程：图像处理、深度学习、机器学习</a:t>
            </a:r>
            <a:endParaRPr sz="800" b="0" dirty="0">
              <a:solidFill>
                <a:srgbClr val="5B6473"/>
              </a:solidFill>
              <a:latin typeface="Microsoft YaHe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8000" y="1568759"/>
            <a:ext cx="3729350" cy="226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 b="1" dirty="0" err="1">
                <a:solidFill>
                  <a:srgbClr val="252B36"/>
                </a:solidFill>
                <a:latin typeface="Microsoft YaHei"/>
              </a:rPr>
              <a:t>兰州大学</a:t>
            </a:r>
            <a:r>
              <a:rPr lang="zh-CN" altLang="en-US" sz="869" b="1" dirty="0">
                <a:solidFill>
                  <a:srgbClr val="252B36"/>
                </a:solidFill>
                <a:latin typeface="Microsoft YaHei"/>
              </a:rPr>
              <a:t>（</a:t>
            </a:r>
            <a:r>
              <a:rPr lang="en-US" altLang="zh-CN" sz="869" b="1" dirty="0">
                <a:solidFill>
                  <a:srgbClr val="252B36"/>
                </a:solidFill>
                <a:latin typeface="Microsoft YaHei"/>
              </a:rPr>
              <a:t>985</a:t>
            </a:r>
            <a:r>
              <a:rPr lang="zh-CN" altLang="en-US" sz="869" b="1" dirty="0">
                <a:solidFill>
                  <a:srgbClr val="252B36"/>
                </a:solidFill>
                <a:latin typeface="Microsoft YaHei"/>
              </a:rPr>
              <a:t>、</a:t>
            </a:r>
            <a:r>
              <a:rPr lang="en-US" altLang="zh-CN" sz="869" b="1" dirty="0">
                <a:solidFill>
                  <a:srgbClr val="252B36"/>
                </a:solidFill>
                <a:latin typeface="Microsoft YaHei"/>
              </a:rPr>
              <a:t>211</a:t>
            </a:r>
            <a:r>
              <a:rPr lang="zh-CN" altLang="en-US" sz="869" b="1" dirty="0">
                <a:solidFill>
                  <a:srgbClr val="252B36"/>
                </a:solidFill>
                <a:latin typeface="Microsoft YaHei"/>
              </a:rPr>
              <a:t>、双一流院校）</a:t>
            </a:r>
            <a:r>
              <a:rPr sz="869" b="1" dirty="0">
                <a:solidFill>
                  <a:srgbClr val="252B36"/>
                </a:solidFill>
                <a:latin typeface="Microsoft YaHei"/>
              </a:rPr>
              <a:t> | </a:t>
            </a:r>
            <a:r>
              <a:rPr sz="869" b="1" dirty="0" err="1">
                <a:solidFill>
                  <a:srgbClr val="252B36"/>
                </a:solidFill>
                <a:latin typeface="Microsoft YaHei"/>
              </a:rPr>
              <a:t>本科</a:t>
            </a:r>
            <a:r>
              <a:rPr sz="869" b="1" dirty="0">
                <a:solidFill>
                  <a:srgbClr val="252B36"/>
                </a:solidFill>
                <a:latin typeface="Microsoft YaHei"/>
              </a:rPr>
              <a:t> | 2018.09 - 2022.06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0000" y="1568760"/>
            <a:ext cx="180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19" b="0">
                <a:solidFill>
                  <a:srgbClr val="5B6473"/>
                </a:solidFill>
                <a:latin typeface="Microsoft YaHei"/>
              </a:rPr>
              <a:t>GPA：3.0/4.0（专业前30%）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8000" y="1723560"/>
            <a:ext cx="26827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 err="1">
                <a:solidFill>
                  <a:srgbClr val="5B6473"/>
                </a:solidFill>
                <a:latin typeface="Microsoft YaHei"/>
              </a:rPr>
              <a:t>相关课程：C语言、数据结构基础、工程建模相关课程</a:t>
            </a:r>
            <a:endParaRPr sz="800" b="0" dirty="0">
              <a:solidFill>
                <a:srgbClr val="5B6473"/>
              </a:solidFill>
              <a:latin typeface="Microsoft Ya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60000" y="1998000"/>
            <a:ext cx="1404000" cy="198000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4800" y="1986160"/>
            <a:ext cx="1224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Microsoft YaHei"/>
              </a:rPr>
              <a:t>专业技能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45999" y="2098800"/>
            <a:ext cx="5112000" cy="14400"/>
          </a:xfrm>
          <a:prstGeom prst="rect">
            <a:avLst/>
          </a:prstGeom>
          <a:solidFill>
            <a:srgbClr val="CF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8000" y="2286000"/>
            <a:ext cx="90000" cy="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0542B"/>
                </a:solidFill>
                <a:latin typeface="Microsoft YaHe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999" y="2286000"/>
            <a:ext cx="41940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 err="1">
                <a:solidFill>
                  <a:srgbClr val="252B36"/>
                </a:solidFill>
                <a:latin typeface="Microsoft YaHei"/>
              </a:rPr>
              <a:t>编程与框架：Python、C</a:t>
            </a:r>
            <a:r>
              <a:rPr sz="800" b="0" dirty="0">
                <a:solidFill>
                  <a:srgbClr val="252B36"/>
                </a:solidFill>
                <a:latin typeface="Microsoft YaHei"/>
              </a:rPr>
              <a:t>++ 基础、PyTorch、OpenCV、PaddleOCR、MMAction2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8000" y="2484000"/>
            <a:ext cx="90000" cy="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0542B"/>
                </a:solidFill>
                <a:latin typeface="Microsoft YaHe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3999" y="2484000"/>
            <a:ext cx="36033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 err="1">
                <a:solidFill>
                  <a:srgbClr val="252B36"/>
                </a:solidFill>
                <a:latin typeface="Microsoft YaHei"/>
              </a:rPr>
              <a:t>计算机视觉：目标检测、OCR、视频分类、语义分割、多模态感知</a:t>
            </a:r>
            <a:endParaRPr sz="800" b="0" dirty="0">
              <a:solidFill>
                <a:srgbClr val="252B36"/>
              </a:solidFill>
              <a:latin typeface="Microsoft Ya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78000" y="2681999"/>
            <a:ext cx="90000" cy="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0542B"/>
                </a:solidFill>
                <a:latin typeface="Microsoft YaHe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3999" y="2681999"/>
            <a:ext cx="53697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>
                <a:solidFill>
                  <a:srgbClr val="252B36"/>
                </a:solidFill>
                <a:latin typeface="Microsoft YaHei"/>
              </a:rPr>
              <a:t>模型与部署：YOLOv5-v</a:t>
            </a:r>
            <a:r>
              <a:rPr lang="en-US" sz="800" b="0" dirty="0">
                <a:solidFill>
                  <a:srgbClr val="252B36"/>
                </a:solidFill>
                <a:latin typeface="Microsoft YaHei"/>
              </a:rPr>
              <a:t>11</a:t>
            </a:r>
            <a:r>
              <a:rPr sz="800" b="0" dirty="0">
                <a:solidFill>
                  <a:srgbClr val="252B36"/>
                </a:solidFill>
                <a:latin typeface="Microsoft YaHei"/>
              </a:rPr>
              <a:t>、</a:t>
            </a:r>
            <a:r>
              <a:rPr lang="en-US" sz="800" b="0" dirty="0">
                <a:solidFill>
                  <a:srgbClr val="252B36"/>
                </a:solidFill>
                <a:latin typeface="Microsoft YaHei"/>
              </a:rPr>
              <a:t>YOLO26</a:t>
            </a:r>
            <a:r>
              <a:rPr lang="zh-CN" altLang="en-US" sz="800" b="0" dirty="0">
                <a:solidFill>
                  <a:srgbClr val="252B36"/>
                </a:solidFill>
                <a:latin typeface="Microsoft YaHei"/>
              </a:rPr>
              <a:t>、</a:t>
            </a:r>
            <a:r>
              <a:rPr sz="800" b="0" dirty="0" err="1">
                <a:solidFill>
                  <a:srgbClr val="252B36"/>
                </a:solidFill>
                <a:latin typeface="Microsoft YaHei"/>
              </a:rPr>
              <a:t>DETR、UNet、TensorRT、ONNX</a:t>
            </a:r>
            <a:r>
              <a:rPr sz="800" b="0" dirty="0">
                <a:solidFill>
                  <a:srgbClr val="252B36"/>
                </a:solidFill>
                <a:latin typeface="Microsoft YaHei"/>
              </a:rPr>
              <a:t> </a:t>
            </a:r>
            <a:r>
              <a:rPr sz="800" b="0" dirty="0" err="1">
                <a:solidFill>
                  <a:srgbClr val="252B36"/>
                </a:solidFill>
                <a:latin typeface="Microsoft YaHei"/>
              </a:rPr>
              <a:t>Runtime、Docker</a:t>
            </a:r>
            <a:endParaRPr sz="800" b="0" dirty="0">
              <a:solidFill>
                <a:srgbClr val="252B36"/>
              </a:solidFill>
              <a:latin typeface="Microsoft YaHe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78000" y="2893850"/>
            <a:ext cx="90000" cy="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0542B"/>
                </a:solidFill>
                <a:latin typeface="Microsoft YaHe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3999" y="2893850"/>
            <a:ext cx="49697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>
                <a:solidFill>
                  <a:srgbClr val="252B36"/>
                </a:solidFill>
                <a:latin typeface="Microsoft YaHei"/>
              </a:rPr>
              <a:t>AI </a:t>
            </a:r>
            <a:r>
              <a:rPr sz="800" b="0" dirty="0" err="1">
                <a:solidFill>
                  <a:srgbClr val="252B36"/>
                </a:solidFill>
                <a:latin typeface="Microsoft YaHei"/>
              </a:rPr>
              <a:t>工具与大模型：Qwen</a:t>
            </a:r>
            <a:r>
              <a:rPr sz="800" b="0" dirty="0">
                <a:solidFill>
                  <a:srgbClr val="252B36"/>
                </a:solidFill>
                <a:latin typeface="Microsoft YaHei"/>
              </a:rPr>
              <a:t> </a:t>
            </a:r>
            <a:r>
              <a:rPr sz="800" b="0" dirty="0" err="1">
                <a:solidFill>
                  <a:srgbClr val="252B36"/>
                </a:solidFill>
                <a:latin typeface="Microsoft YaHei"/>
              </a:rPr>
              <a:t>本地部署、LangChain、</a:t>
            </a:r>
            <a:r>
              <a:rPr lang="en-US" altLang="zh-CN" sz="800" b="0" dirty="0" err="1">
                <a:solidFill>
                  <a:srgbClr val="252B36"/>
                </a:solidFill>
                <a:latin typeface="Microsoft YaHei"/>
              </a:rPr>
              <a:t>codex</a:t>
            </a:r>
            <a:r>
              <a:rPr sz="800" b="0" dirty="0" err="1">
                <a:solidFill>
                  <a:srgbClr val="252B36"/>
                </a:solidFill>
                <a:latin typeface="Microsoft YaHei"/>
              </a:rPr>
              <a:t>、</a:t>
            </a:r>
            <a:r>
              <a:rPr lang="en-US" sz="800" b="0" dirty="0" err="1">
                <a:solidFill>
                  <a:srgbClr val="252B36"/>
                </a:solidFill>
                <a:latin typeface="Microsoft YaHei"/>
              </a:rPr>
              <a:t>claude</a:t>
            </a:r>
            <a:r>
              <a:rPr lang="en-US" sz="800" b="0" dirty="0">
                <a:solidFill>
                  <a:srgbClr val="252B36"/>
                </a:solidFill>
                <a:latin typeface="Microsoft YaHei"/>
              </a:rPr>
              <a:t> code</a:t>
            </a:r>
            <a:r>
              <a:rPr lang="zh-CN" altLang="en-US" sz="800" b="0" dirty="0">
                <a:solidFill>
                  <a:srgbClr val="252B36"/>
                </a:solidFill>
                <a:latin typeface="Microsoft YaHei"/>
              </a:rPr>
              <a:t>、</a:t>
            </a:r>
            <a:r>
              <a:rPr sz="800" b="0" dirty="0" err="1">
                <a:solidFill>
                  <a:srgbClr val="252B36"/>
                </a:solidFill>
                <a:latin typeface="Microsoft YaHei"/>
              </a:rPr>
              <a:t>OpenClaw</a:t>
            </a:r>
            <a:r>
              <a:rPr sz="800" b="0" dirty="0">
                <a:solidFill>
                  <a:srgbClr val="252B36"/>
                </a:solidFill>
                <a:latin typeface="Microsoft YaHei"/>
              </a:rPr>
              <a:t> </a:t>
            </a:r>
            <a:r>
              <a:rPr sz="800" b="0" dirty="0" err="1">
                <a:solidFill>
                  <a:srgbClr val="252B36"/>
                </a:solidFill>
                <a:latin typeface="Microsoft YaHei"/>
              </a:rPr>
              <a:t>辅助开发</a:t>
            </a:r>
            <a:endParaRPr sz="800" b="0" dirty="0">
              <a:solidFill>
                <a:srgbClr val="252B36"/>
              </a:solidFill>
              <a:latin typeface="Microsoft YaHe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78000" y="3091850"/>
            <a:ext cx="90000" cy="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0542B"/>
                </a:solidFill>
                <a:latin typeface="Microsoft YaHe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3999" y="3091850"/>
            <a:ext cx="11448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>
                <a:solidFill>
                  <a:srgbClr val="252B36"/>
                </a:solidFill>
                <a:latin typeface="Microsoft YaHei"/>
              </a:rPr>
              <a:t>英语水平：CET-6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0000" y="3600000"/>
            <a:ext cx="1404000" cy="198000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4800" y="3590700"/>
            <a:ext cx="1224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dirty="0" err="1">
                <a:solidFill>
                  <a:srgbClr val="FFFFFF"/>
                </a:solidFill>
                <a:latin typeface="Microsoft YaHei"/>
              </a:rPr>
              <a:t>实习经历</a:t>
            </a:r>
            <a:endParaRPr sz="1000" b="1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745999" y="3700800"/>
            <a:ext cx="5112000" cy="14400"/>
          </a:xfrm>
          <a:prstGeom prst="rect">
            <a:avLst/>
          </a:prstGeom>
          <a:solidFill>
            <a:srgbClr val="CF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78000" y="3888000"/>
            <a:ext cx="4320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1">
                <a:solidFill>
                  <a:srgbClr val="252B36"/>
                </a:solidFill>
                <a:latin typeface="Microsoft YaHei"/>
              </a:rPr>
              <a:t>江苏鸿程大数据技术与应用研究院有限公司 | 算法工程师实习生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84000" y="3895200"/>
            <a:ext cx="1692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dirty="0">
                <a:solidFill>
                  <a:srgbClr val="5B6473"/>
                </a:solidFill>
                <a:latin typeface="Microsoft YaHei"/>
              </a:rPr>
              <a:t>2025.</a:t>
            </a:r>
            <a:r>
              <a:rPr lang="en-US" sz="800" b="0" dirty="0">
                <a:solidFill>
                  <a:srgbClr val="5B6473"/>
                </a:solidFill>
                <a:latin typeface="Microsoft YaHei"/>
              </a:rPr>
              <a:t>12</a:t>
            </a:r>
            <a:r>
              <a:rPr sz="800" b="0" dirty="0">
                <a:solidFill>
                  <a:srgbClr val="5B6473"/>
                </a:solidFill>
                <a:latin typeface="Microsoft YaHei"/>
              </a:rPr>
              <a:t> - 2026.03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8000" y="4177440"/>
            <a:ext cx="90000" cy="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dirty="0">
                <a:solidFill>
                  <a:srgbClr val="B0542B"/>
                </a:solidFill>
                <a:latin typeface="Microsoft YaHei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3999" y="4177440"/>
            <a:ext cx="6425999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 err="1">
                <a:solidFill>
                  <a:srgbClr val="252B36"/>
                </a:solidFill>
                <a:latin typeface="Microsoft YaHei"/>
              </a:rPr>
              <a:t>参与计算机视觉与多模态感知相关项目，涉及目标检测、视频分类、OCR</a:t>
            </a:r>
            <a:r>
              <a:rPr sz="800" b="0" dirty="0">
                <a:solidFill>
                  <a:srgbClr val="252B36"/>
                </a:solidFill>
                <a:latin typeface="Microsoft YaHei"/>
              </a:rPr>
              <a:t> </a:t>
            </a:r>
            <a:r>
              <a:rPr sz="800" b="0" dirty="0" err="1">
                <a:solidFill>
                  <a:srgbClr val="252B36"/>
                </a:solidFill>
                <a:latin typeface="Microsoft YaHei"/>
              </a:rPr>
              <a:t>识别等任务</a:t>
            </a:r>
            <a:r>
              <a:rPr sz="800" b="0" dirty="0">
                <a:solidFill>
                  <a:srgbClr val="252B36"/>
                </a:solidFill>
                <a:latin typeface="Microsoft YaHei"/>
              </a:rPr>
              <a:t>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8000" y="4363380"/>
            <a:ext cx="90000" cy="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0542B"/>
                </a:solidFill>
                <a:latin typeface="Microsoft YaHei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3999" y="4363380"/>
            <a:ext cx="64259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 err="1">
                <a:solidFill>
                  <a:srgbClr val="252B36"/>
                </a:solidFill>
                <a:latin typeface="Microsoft YaHei"/>
              </a:rPr>
              <a:t>负责数据整理、实验配置、模型训练</a:t>
            </a:r>
            <a:r>
              <a:rPr lang="zh-CN" altLang="en-US" sz="800" dirty="0">
                <a:solidFill>
                  <a:srgbClr val="252B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和部署</a:t>
            </a:r>
            <a:r>
              <a:rPr sz="800" b="0" dirty="0">
                <a:solidFill>
                  <a:srgbClr val="252B36"/>
                </a:solidFill>
                <a:latin typeface="Microsoft YaHei"/>
              </a:rPr>
              <a:t>、</a:t>
            </a:r>
            <a:r>
              <a:rPr sz="800" b="0" dirty="0" err="1">
                <a:solidFill>
                  <a:srgbClr val="252B36"/>
                </a:solidFill>
                <a:latin typeface="Microsoft YaHei"/>
              </a:rPr>
              <a:t>结果分析、问题排查与技术报告撰写</a:t>
            </a:r>
            <a:r>
              <a:rPr sz="800" b="0" dirty="0">
                <a:solidFill>
                  <a:srgbClr val="252B36"/>
                </a:solidFill>
                <a:latin typeface="Microsoft YaHei"/>
              </a:rPr>
              <a:t>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8000" y="4572180"/>
            <a:ext cx="90000" cy="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0542B"/>
                </a:solidFill>
                <a:latin typeface="Microsoft YaHei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3999" y="4572180"/>
            <a:ext cx="6425999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 err="1">
                <a:solidFill>
                  <a:srgbClr val="252B36"/>
                </a:solidFill>
                <a:latin typeface="Microsoft YaHei"/>
              </a:rPr>
              <a:t>在打火花视频分类项目中整合</a:t>
            </a:r>
            <a:r>
              <a:rPr sz="800" b="0" dirty="0">
                <a:solidFill>
                  <a:srgbClr val="252B36"/>
                </a:solidFill>
                <a:latin typeface="Microsoft YaHei"/>
              </a:rPr>
              <a:t> 7 个数据源、2,155 </a:t>
            </a:r>
            <a:r>
              <a:rPr sz="800" b="0" dirty="0" err="1">
                <a:solidFill>
                  <a:srgbClr val="252B36"/>
                </a:solidFill>
                <a:latin typeface="Microsoft YaHei"/>
              </a:rPr>
              <a:t>个视频，发现训练</a:t>
            </a:r>
            <a:r>
              <a:rPr sz="800" b="0" dirty="0">
                <a:solidFill>
                  <a:srgbClr val="252B36"/>
                </a:solidFill>
                <a:latin typeface="Microsoft YaHei"/>
              </a:rPr>
              <a:t> / </a:t>
            </a:r>
            <a:r>
              <a:rPr sz="800" b="0" dirty="0" err="1">
                <a:solidFill>
                  <a:srgbClr val="252B36"/>
                </a:solidFill>
                <a:latin typeface="Microsoft YaHei"/>
              </a:rPr>
              <a:t>测试数据泄露问题，并提出重新划分策略</a:t>
            </a:r>
            <a:r>
              <a:rPr sz="800" b="0" dirty="0">
                <a:solidFill>
                  <a:srgbClr val="252B36"/>
                </a:solidFill>
                <a:latin typeface="Microsoft YaHei"/>
              </a:rPr>
              <a:t>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8000" y="4780980"/>
            <a:ext cx="90000" cy="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0542B"/>
                </a:solidFill>
                <a:latin typeface="Microsoft YaHei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3999" y="4780980"/>
            <a:ext cx="6425999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 err="1">
                <a:solidFill>
                  <a:srgbClr val="252B36"/>
                </a:solidFill>
                <a:latin typeface="Microsoft YaHei"/>
              </a:rPr>
              <a:t>参与铁路沿线施工机械入侵检测项目，协助梳理多传感器融合检测流程，并完成项目技术报告整理</a:t>
            </a:r>
            <a:r>
              <a:rPr sz="800" b="0" dirty="0">
                <a:solidFill>
                  <a:srgbClr val="252B36"/>
                </a:solidFill>
                <a:latin typeface="Microsoft YaHei"/>
              </a:rPr>
              <a:t>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0000" y="6372720"/>
            <a:ext cx="1404000" cy="198000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24800" y="6363420"/>
            <a:ext cx="1224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dirty="0" err="1">
                <a:solidFill>
                  <a:srgbClr val="FFFFFF"/>
                </a:solidFill>
                <a:latin typeface="Microsoft YaHei"/>
              </a:rPr>
              <a:t>项目经历</a:t>
            </a:r>
            <a:endParaRPr sz="1000" b="1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1745999" y="6473520"/>
            <a:ext cx="5112000" cy="14400"/>
          </a:xfrm>
          <a:prstGeom prst="rect">
            <a:avLst/>
          </a:prstGeom>
          <a:solidFill>
            <a:srgbClr val="CF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78000" y="6642720"/>
            <a:ext cx="4752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19" b="1">
                <a:solidFill>
                  <a:srgbClr val="1F3C88"/>
                </a:solidFill>
                <a:latin typeface="Microsoft YaHei"/>
              </a:rPr>
              <a:t>1. 铁路沿线大型施工机械入侵检测系统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00000" y="6649920"/>
            <a:ext cx="1440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5B6473"/>
                </a:solidFill>
                <a:latin typeface="Microsoft YaHei"/>
              </a:rPr>
              <a:t>2025.09 - 2026.03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0000" y="6822720"/>
            <a:ext cx="792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19" b="1">
                <a:solidFill>
                  <a:srgbClr val="1F3C88"/>
                </a:solidFill>
                <a:latin typeface="Microsoft YaHei"/>
              </a:rPr>
              <a:t>技术栈：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6000" y="6822720"/>
            <a:ext cx="5634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19" b="0" dirty="0">
                <a:solidFill>
                  <a:srgbClr val="252B36"/>
                </a:solidFill>
                <a:latin typeface="Microsoft YaHei"/>
              </a:rPr>
              <a:t>YOLOv8、DeepSORT、Qwen3-VL、BP Neural </a:t>
            </a:r>
            <a:r>
              <a:rPr sz="819" b="0" dirty="0" err="1">
                <a:solidFill>
                  <a:srgbClr val="252B36"/>
                </a:solidFill>
                <a:latin typeface="Microsoft YaHei"/>
              </a:rPr>
              <a:t>Network、多传感器融合</a:t>
            </a:r>
            <a:endParaRPr sz="819" b="0" dirty="0">
              <a:solidFill>
                <a:srgbClr val="252B36"/>
              </a:solidFill>
              <a:latin typeface="Microsoft YaHe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50000" y="6973920"/>
            <a:ext cx="792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19" b="1">
                <a:solidFill>
                  <a:srgbClr val="1F3C88"/>
                </a:solidFill>
                <a:latin typeface="Microsoft YaHei"/>
              </a:rPr>
              <a:t>背景：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6000" y="6973920"/>
            <a:ext cx="5634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19" b="0" dirty="0" err="1">
                <a:solidFill>
                  <a:srgbClr val="252B36"/>
                </a:solidFill>
                <a:latin typeface="Microsoft YaHei"/>
              </a:rPr>
              <a:t>面向铁路沿线施工机械入侵风险，融合可见光、红外与毫米波雷达数据，实现全天候入侵检测与分级预警</a:t>
            </a:r>
            <a:r>
              <a:rPr sz="819" b="0" dirty="0">
                <a:solidFill>
                  <a:srgbClr val="252B36"/>
                </a:solidFill>
                <a:latin typeface="Microsoft YaHei"/>
              </a:rPr>
              <a:t>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0000" y="7125120"/>
            <a:ext cx="792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19" b="1">
                <a:solidFill>
                  <a:srgbClr val="1F3C88"/>
                </a:solidFill>
                <a:latin typeface="Microsoft YaHei"/>
              </a:rPr>
              <a:t>工作：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6000" y="7125120"/>
            <a:ext cx="5634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19" b="0">
                <a:solidFill>
                  <a:srgbClr val="252B36"/>
                </a:solidFill>
                <a:latin typeface="Microsoft YaHei"/>
              </a:rPr>
              <a:t>参与多模态检测流程梳理、技术方案总结与实验结果整理，撰写项目技术报告并推动报告向论文材料转化。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0000" y="7276320"/>
            <a:ext cx="792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19" b="1">
                <a:solidFill>
                  <a:srgbClr val="1F3C88"/>
                </a:solidFill>
                <a:latin typeface="Microsoft YaHei"/>
              </a:rPr>
              <a:t>亮点：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6000" y="7276320"/>
            <a:ext cx="5634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19" b="0" dirty="0" err="1">
                <a:solidFill>
                  <a:srgbClr val="252B36"/>
                </a:solidFill>
                <a:latin typeface="Microsoft YaHei"/>
              </a:rPr>
              <a:t>关注复杂场景下多源信息协同检测，形成目标检测、跟踪、语义理解与风险判断结合的完整方案框架</a:t>
            </a:r>
            <a:r>
              <a:rPr sz="819" b="0" dirty="0">
                <a:solidFill>
                  <a:srgbClr val="252B36"/>
                </a:solidFill>
                <a:latin typeface="Microsoft YaHei"/>
              </a:rPr>
              <a:t>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8000" y="7686720"/>
            <a:ext cx="4752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19" b="1">
                <a:solidFill>
                  <a:srgbClr val="1F3C88"/>
                </a:solidFill>
                <a:latin typeface="Microsoft YaHei"/>
              </a:rPr>
              <a:t>2. 打火花视频分类检测系统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00000" y="7693920"/>
            <a:ext cx="1440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5B6473"/>
                </a:solidFill>
                <a:latin typeface="Microsoft YaHei"/>
              </a:rPr>
              <a:t>2026.01 - 2026.03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0000" y="7866720"/>
            <a:ext cx="792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19" b="1">
                <a:solidFill>
                  <a:srgbClr val="1F3C88"/>
                </a:solidFill>
                <a:latin typeface="Microsoft YaHei"/>
              </a:rPr>
              <a:t>技术栈：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16000" y="7866720"/>
            <a:ext cx="5634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19" b="0">
                <a:solidFill>
                  <a:srgbClr val="252B36"/>
                </a:solidFill>
                <a:latin typeface="Microsoft YaHei"/>
              </a:rPr>
              <a:t>PyTorch、MMAction2、TSN R50、OpenClaw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0000" y="8017920"/>
            <a:ext cx="792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19" b="1">
                <a:solidFill>
                  <a:srgbClr val="1F3C88"/>
                </a:solidFill>
                <a:latin typeface="Microsoft YaHei"/>
              </a:rPr>
              <a:t>背景：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16000" y="8017920"/>
            <a:ext cx="5634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19" b="0">
                <a:solidFill>
                  <a:srgbClr val="252B36"/>
                </a:solidFill>
                <a:latin typeface="Microsoft YaHei"/>
              </a:rPr>
              <a:t>面向工业打火花视频分类场景，基于火花形态和动态特征实现钢材类别自动识别。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0000" y="8169120"/>
            <a:ext cx="792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19" b="1">
                <a:solidFill>
                  <a:srgbClr val="1F3C88"/>
                </a:solidFill>
                <a:latin typeface="Microsoft YaHei"/>
              </a:rPr>
              <a:t>工作：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16000" y="8169120"/>
            <a:ext cx="5634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19" b="0">
                <a:solidFill>
                  <a:srgbClr val="252B36"/>
                </a:solidFill>
                <a:latin typeface="Microsoft YaHei"/>
              </a:rPr>
              <a:t>整合 7 个数据源共 2,155 个视频，完成数据清洗与数据集划分检查，独立发现严重数据泄露问题。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0000" y="8320320"/>
            <a:ext cx="792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19" b="1">
                <a:solidFill>
                  <a:srgbClr val="1F3C88"/>
                </a:solidFill>
                <a:latin typeface="Microsoft YaHei"/>
              </a:rPr>
              <a:t>亮点：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16000" y="8320320"/>
            <a:ext cx="5634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19" b="0">
                <a:solidFill>
                  <a:srgbClr val="252B36"/>
                </a:solidFill>
                <a:latin typeface="Microsoft YaHei"/>
              </a:rPr>
              <a:t>不仅关注模型训练结果，也关注数据质量、实验可信度和评估边界，提升实验结论可靠性。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78000" y="8730720"/>
            <a:ext cx="4752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19" b="1">
                <a:solidFill>
                  <a:srgbClr val="1F3C88"/>
                </a:solidFill>
                <a:latin typeface="Microsoft YaHei"/>
              </a:rPr>
              <a:t>3. 基于 PaddleOCR 的车牌识别系统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00000" y="8737920"/>
            <a:ext cx="1440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5B6473"/>
                </a:solidFill>
                <a:latin typeface="Microsoft YaHei"/>
              </a:rPr>
              <a:t>2025.12 - 2026.03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0000" y="8910720"/>
            <a:ext cx="792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19" b="1">
                <a:solidFill>
                  <a:srgbClr val="1F3C88"/>
                </a:solidFill>
                <a:latin typeface="Microsoft YaHei"/>
              </a:rPr>
              <a:t>技术栈：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16000" y="8910720"/>
            <a:ext cx="5634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19" b="0">
                <a:solidFill>
                  <a:srgbClr val="252B36"/>
                </a:solidFill>
                <a:latin typeface="Microsoft YaHei"/>
              </a:rPr>
              <a:t>PaddleOCR、PP-OCRv5、CCPD2019 / CCPD2020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0000" y="9061920"/>
            <a:ext cx="792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19" b="1">
                <a:solidFill>
                  <a:srgbClr val="1F3C88"/>
                </a:solidFill>
                <a:latin typeface="Microsoft YaHei"/>
              </a:rPr>
              <a:t>背景：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16000" y="9061920"/>
            <a:ext cx="5634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19" b="0">
                <a:solidFill>
                  <a:srgbClr val="252B36"/>
                </a:solidFill>
                <a:latin typeface="Microsoft YaHei"/>
              </a:rPr>
              <a:t>基于公开车牌数据集构建车牌检测与识别一体化 OCR 系统，实现复杂场景下车牌信息自动识别。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0000" y="9213120"/>
            <a:ext cx="792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19" b="1">
                <a:solidFill>
                  <a:srgbClr val="1F3C88"/>
                </a:solidFill>
                <a:latin typeface="Microsoft YaHei"/>
              </a:rPr>
              <a:t>工作：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16000" y="9213120"/>
            <a:ext cx="5634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19" b="0">
                <a:solidFill>
                  <a:srgbClr val="252B36"/>
                </a:solidFill>
                <a:latin typeface="Microsoft YaHei"/>
              </a:rPr>
              <a:t>构建 12 万+车牌数据训练集，完成数据预处理、检测与识别模型迁移学习和微调实验。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0000" y="9364320"/>
            <a:ext cx="792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19" b="1">
                <a:solidFill>
                  <a:srgbClr val="1F3C88"/>
                </a:solidFill>
                <a:latin typeface="Microsoft YaHei"/>
              </a:rPr>
              <a:t>亮点：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16000" y="9364320"/>
            <a:ext cx="5634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19" b="0">
                <a:solidFill>
                  <a:srgbClr val="252B36"/>
                </a:solidFill>
                <a:latin typeface="Microsoft YaHei"/>
              </a:rPr>
              <a:t>完整覆盖数据准备、模型训练、识别评估和结果分析流程，强化 OCR 任务中的工程实践能力。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0000" y="10368000"/>
            <a:ext cx="6840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5B6473"/>
                </a:solidFill>
                <a:latin typeface="Microsoft YaHei"/>
              </a:rPr>
              <a:t>1 / 2</a:t>
            </a:r>
          </a:p>
        </p:txBody>
      </p:sp>
      <p:sp>
        <p:nvSpPr>
          <p:cNvPr id="78" name="TextBox 28">
            <a:extLst>
              <a:ext uri="{FF2B5EF4-FFF2-40B4-BE49-F238E27FC236}">
                <a16:creationId xmlns:a16="http://schemas.microsoft.com/office/drawing/2014/main" id="{78E562A6-C840-2EB9-D0A3-6C2A909393EA}"/>
              </a:ext>
            </a:extLst>
          </p:cNvPr>
          <p:cNvSpPr txBox="1"/>
          <p:nvPr/>
        </p:nvSpPr>
        <p:spPr>
          <a:xfrm>
            <a:off x="378000" y="3276000"/>
            <a:ext cx="90000" cy="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0542B"/>
                </a:solidFill>
                <a:latin typeface="Microsoft YaHei"/>
              </a:rPr>
              <a:t>•</a:t>
            </a:r>
          </a:p>
        </p:txBody>
      </p:sp>
      <p:sp>
        <p:nvSpPr>
          <p:cNvPr id="79" name="TextBox 29">
            <a:extLst>
              <a:ext uri="{FF2B5EF4-FFF2-40B4-BE49-F238E27FC236}">
                <a16:creationId xmlns:a16="http://schemas.microsoft.com/office/drawing/2014/main" id="{C3DDA936-836B-B462-59AA-2F5517C4E6D3}"/>
              </a:ext>
            </a:extLst>
          </p:cNvPr>
          <p:cNvSpPr txBox="1"/>
          <p:nvPr/>
        </p:nvSpPr>
        <p:spPr>
          <a:xfrm>
            <a:off x="503999" y="3276000"/>
            <a:ext cx="24741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00" dirty="0">
                <a:solidFill>
                  <a:srgbClr val="252B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其他：</a:t>
            </a:r>
            <a:r>
              <a:rPr lang="en-US" altLang="zh-CN" sz="800" dirty="0" err="1">
                <a:solidFill>
                  <a:srgbClr val="252B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  <a:r>
              <a:rPr lang="zh-CN" altLang="en-US" sz="800" dirty="0">
                <a:solidFill>
                  <a:srgbClr val="252B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800" dirty="0">
                <a:solidFill>
                  <a:srgbClr val="252B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n8n</a:t>
            </a:r>
            <a:r>
              <a:rPr lang="zh-CN" altLang="en-US" sz="800" dirty="0">
                <a:solidFill>
                  <a:srgbClr val="252B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800" dirty="0" err="1">
                <a:solidFill>
                  <a:srgbClr val="252B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800" dirty="0">
                <a:solidFill>
                  <a:srgbClr val="252B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endParaRPr sz="800" b="0" dirty="0">
              <a:solidFill>
                <a:srgbClr val="252B3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TextBox 33">
            <a:extLst>
              <a:ext uri="{FF2B5EF4-FFF2-40B4-BE49-F238E27FC236}">
                <a16:creationId xmlns:a16="http://schemas.microsoft.com/office/drawing/2014/main" id="{34E48C36-FE80-AACA-1C4E-C057F34B32B7}"/>
              </a:ext>
            </a:extLst>
          </p:cNvPr>
          <p:cNvSpPr txBox="1"/>
          <p:nvPr/>
        </p:nvSpPr>
        <p:spPr>
          <a:xfrm>
            <a:off x="385620" y="5101260"/>
            <a:ext cx="4644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 b="1" dirty="0" err="1">
                <a:solidFill>
                  <a:srgbClr val="252B36"/>
                </a:solidFill>
                <a:latin typeface="Microsoft YaHei"/>
              </a:rPr>
              <a:t>河北习知科技有限公司（辅立码课</a:t>
            </a:r>
            <a:r>
              <a:rPr sz="869" b="1" dirty="0">
                <a:solidFill>
                  <a:srgbClr val="252B36"/>
                </a:solidFill>
                <a:latin typeface="Microsoft YaHei"/>
              </a:rPr>
              <a:t>） | AI </a:t>
            </a:r>
            <a:r>
              <a:rPr sz="869" b="1" dirty="0" err="1">
                <a:solidFill>
                  <a:srgbClr val="252B36"/>
                </a:solidFill>
                <a:latin typeface="Microsoft YaHei"/>
              </a:rPr>
              <a:t>大模型应用开发实习生</a:t>
            </a:r>
            <a:endParaRPr sz="869" b="1" dirty="0">
              <a:solidFill>
                <a:srgbClr val="252B36"/>
              </a:solidFill>
              <a:latin typeface="Microsoft YaHei"/>
            </a:endParaRPr>
          </a:p>
        </p:txBody>
      </p:sp>
      <p:sp>
        <p:nvSpPr>
          <p:cNvPr id="94" name="TextBox 34">
            <a:extLst>
              <a:ext uri="{FF2B5EF4-FFF2-40B4-BE49-F238E27FC236}">
                <a16:creationId xmlns:a16="http://schemas.microsoft.com/office/drawing/2014/main" id="{5CB215B0-AB12-A496-6DD5-59DE43D4A263}"/>
              </a:ext>
            </a:extLst>
          </p:cNvPr>
          <p:cNvSpPr txBox="1"/>
          <p:nvPr/>
        </p:nvSpPr>
        <p:spPr>
          <a:xfrm>
            <a:off x="5119620" y="5108460"/>
            <a:ext cx="1764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473"/>
                </a:solidFill>
                <a:latin typeface="Microsoft YaHei"/>
              </a:rPr>
              <a:t>2025.03 - 2025.07</a:t>
            </a:r>
          </a:p>
        </p:txBody>
      </p:sp>
      <p:sp>
        <p:nvSpPr>
          <p:cNvPr id="95" name="TextBox 35">
            <a:extLst>
              <a:ext uri="{FF2B5EF4-FFF2-40B4-BE49-F238E27FC236}">
                <a16:creationId xmlns:a16="http://schemas.microsoft.com/office/drawing/2014/main" id="{F5E579C4-78B7-0ADF-8C4D-1D3DAF7BE332}"/>
              </a:ext>
            </a:extLst>
          </p:cNvPr>
          <p:cNvSpPr txBox="1"/>
          <p:nvPr/>
        </p:nvSpPr>
        <p:spPr>
          <a:xfrm>
            <a:off x="457620" y="5274060"/>
            <a:ext cx="6372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 err="1">
                <a:solidFill>
                  <a:srgbClr val="5B6473"/>
                </a:solidFill>
                <a:latin typeface="Microsoft YaHei"/>
              </a:rPr>
              <a:t>技术栈：Python、RAG、Milvus、LangChain、Coze（扣子</a:t>
            </a:r>
            <a:r>
              <a:rPr sz="800" b="0" dirty="0">
                <a:solidFill>
                  <a:srgbClr val="5B6473"/>
                </a:solidFill>
                <a:latin typeface="Microsoft YaHei"/>
              </a:rPr>
              <a:t>）、Prompt Engineering</a:t>
            </a:r>
            <a:r>
              <a:rPr lang="zh-CN" altLang="en-US" sz="800" b="0" dirty="0">
                <a:solidFill>
                  <a:srgbClr val="5B6473"/>
                </a:solidFill>
                <a:latin typeface="Microsoft YaHei"/>
              </a:rPr>
              <a:t>、</a:t>
            </a:r>
            <a:r>
              <a:rPr lang="en-US" sz="800" b="0" dirty="0">
                <a:solidFill>
                  <a:srgbClr val="5B6473"/>
                </a:solidFill>
                <a:latin typeface="Microsoft YaHei"/>
              </a:rPr>
              <a:t>Agent</a:t>
            </a:r>
            <a:endParaRPr sz="800" b="0" dirty="0">
              <a:solidFill>
                <a:srgbClr val="5B6473"/>
              </a:solidFill>
              <a:latin typeface="Microsoft YaHei"/>
            </a:endParaRPr>
          </a:p>
        </p:txBody>
      </p:sp>
      <p:sp>
        <p:nvSpPr>
          <p:cNvPr id="96" name="TextBox 36">
            <a:extLst>
              <a:ext uri="{FF2B5EF4-FFF2-40B4-BE49-F238E27FC236}">
                <a16:creationId xmlns:a16="http://schemas.microsoft.com/office/drawing/2014/main" id="{8CE51750-A1F1-57E7-66D1-72A375762C94}"/>
              </a:ext>
            </a:extLst>
          </p:cNvPr>
          <p:cNvSpPr txBox="1"/>
          <p:nvPr/>
        </p:nvSpPr>
        <p:spPr>
          <a:xfrm>
            <a:off x="385620" y="5443260"/>
            <a:ext cx="90000" cy="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90" b="1">
                <a:solidFill>
                  <a:srgbClr val="B0542B"/>
                </a:solidFill>
                <a:latin typeface="Microsoft YaHei"/>
              </a:rPr>
              <a:t>•</a:t>
            </a:r>
          </a:p>
        </p:txBody>
      </p:sp>
      <p:sp>
        <p:nvSpPr>
          <p:cNvPr id="97" name="TextBox 37">
            <a:extLst>
              <a:ext uri="{FF2B5EF4-FFF2-40B4-BE49-F238E27FC236}">
                <a16:creationId xmlns:a16="http://schemas.microsoft.com/office/drawing/2014/main" id="{1000304C-DBBC-AF21-E14B-3C0A5E7BDF74}"/>
              </a:ext>
            </a:extLst>
          </p:cNvPr>
          <p:cNvSpPr txBox="1"/>
          <p:nvPr/>
        </p:nvSpPr>
        <p:spPr>
          <a:xfrm>
            <a:off x="511619" y="5443260"/>
            <a:ext cx="6425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90" b="0" dirty="0" err="1">
                <a:solidFill>
                  <a:srgbClr val="252B36"/>
                </a:solidFill>
                <a:latin typeface="Microsoft YaHei"/>
              </a:rPr>
              <a:t>参与中学教育场景下的大语言模型应用开发，负责智能阅卷、知识检索、错题推荐等功能模块</a:t>
            </a:r>
            <a:r>
              <a:rPr sz="790" b="0" dirty="0">
                <a:solidFill>
                  <a:srgbClr val="252B36"/>
                </a:solidFill>
                <a:latin typeface="Microsoft YaHei"/>
              </a:rPr>
              <a:t>。</a:t>
            </a:r>
          </a:p>
        </p:txBody>
      </p:sp>
      <p:sp>
        <p:nvSpPr>
          <p:cNvPr id="98" name="TextBox 38">
            <a:extLst>
              <a:ext uri="{FF2B5EF4-FFF2-40B4-BE49-F238E27FC236}">
                <a16:creationId xmlns:a16="http://schemas.microsoft.com/office/drawing/2014/main" id="{E5F53CAA-E6D4-7399-796B-F32D76E1127A}"/>
              </a:ext>
            </a:extLst>
          </p:cNvPr>
          <p:cNvSpPr txBox="1"/>
          <p:nvPr/>
        </p:nvSpPr>
        <p:spPr>
          <a:xfrm>
            <a:off x="385620" y="5623260"/>
            <a:ext cx="90000" cy="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90" b="1">
                <a:solidFill>
                  <a:srgbClr val="B0542B"/>
                </a:solidFill>
                <a:latin typeface="Microsoft YaHei"/>
              </a:rPr>
              <a:t>•</a:t>
            </a:r>
          </a:p>
        </p:txBody>
      </p:sp>
      <p:sp>
        <p:nvSpPr>
          <p:cNvPr id="99" name="TextBox 39">
            <a:extLst>
              <a:ext uri="{FF2B5EF4-FFF2-40B4-BE49-F238E27FC236}">
                <a16:creationId xmlns:a16="http://schemas.microsoft.com/office/drawing/2014/main" id="{EA5BDA9F-11BA-08C9-1F9C-DEBE3ABCE3E2}"/>
              </a:ext>
            </a:extLst>
          </p:cNvPr>
          <p:cNvSpPr txBox="1"/>
          <p:nvPr/>
        </p:nvSpPr>
        <p:spPr>
          <a:xfrm>
            <a:off x="511619" y="5623260"/>
            <a:ext cx="6425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90" b="0" dirty="0" err="1">
                <a:solidFill>
                  <a:srgbClr val="252B36"/>
                </a:solidFill>
                <a:latin typeface="Microsoft YaHei"/>
              </a:rPr>
              <a:t>基于高中知识、题库和错题本构建本地知识库，参与向量检索与</a:t>
            </a:r>
            <a:r>
              <a:rPr sz="790" b="0" dirty="0">
                <a:solidFill>
                  <a:srgbClr val="252B36"/>
                </a:solidFill>
                <a:latin typeface="Microsoft YaHei"/>
              </a:rPr>
              <a:t> RAG </a:t>
            </a:r>
            <a:r>
              <a:rPr sz="790" b="0" dirty="0" err="1">
                <a:solidFill>
                  <a:srgbClr val="252B36"/>
                </a:solidFill>
                <a:latin typeface="Microsoft YaHei"/>
              </a:rPr>
              <a:t>问答流程设计</a:t>
            </a:r>
            <a:r>
              <a:rPr sz="790" b="0" dirty="0">
                <a:solidFill>
                  <a:srgbClr val="252B36"/>
                </a:solidFill>
                <a:latin typeface="Microsoft YaHei"/>
              </a:rPr>
              <a:t>。</a:t>
            </a:r>
          </a:p>
        </p:txBody>
      </p:sp>
      <p:sp>
        <p:nvSpPr>
          <p:cNvPr id="100" name="TextBox 40">
            <a:extLst>
              <a:ext uri="{FF2B5EF4-FFF2-40B4-BE49-F238E27FC236}">
                <a16:creationId xmlns:a16="http://schemas.microsoft.com/office/drawing/2014/main" id="{91E89ECB-B974-75DE-767A-B03E0168185B}"/>
              </a:ext>
            </a:extLst>
          </p:cNvPr>
          <p:cNvSpPr txBox="1"/>
          <p:nvPr/>
        </p:nvSpPr>
        <p:spPr>
          <a:xfrm>
            <a:off x="385620" y="5803260"/>
            <a:ext cx="90000" cy="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90" b="1">
                <a:solidFill>
                  <a:srgbClr val="B0542B"/>
                </a:solidFill>
                <a:latin typeface="Microsoft YaHei"/>
              </a:rPr>
              <a:t>•</a:t>
            </a:r>
          </a:p>
        </p:txBody>
      </p:sp>
      <p:sp>
        <p:nvSpPr>
          <p:cNvPr id="101" name="TextBox 41">
            <a:extLst>
              <a:ext uri="{FF2B5EF4-FFF2-40B4-BE49-F238E27FC236}">
                <a16:creationId xmlns:a16="http://schemas.microsoft.com/office/drawing/2014/main" id="{01DE52E4-B4C3-D044-7CE5-349E70BF15CA}"/>
              </a:ext>
            </a:extLst>
          </p:cNvPr>
          <p:cNvSpPr txBox="1"/>
          <p:nvPr/>
        </p:nvSpPr>
        <p:spPr>
          <a:xfrm>
            <a:off x="511619" y="5803260"/>
            <a:ext cx="6425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90" b="0" dirty="0" err="1">
                <a:solidFill>
                  <a:srgbClr val="252B36"/>
                </a:solidFill>
                <a:latin typeface="Microsoft YaHei"/>
              </a:rPr>
              <a:t>参与大模型智能教育产品的功能开发、效果评估与提示词优化，提升回答相关性和可用性</a:t>
            </a:r>
            <a:r>
              <a:rPr sz="790" b="0" dirty="0">
                <a:solidFill>
                  <a:srgbClr val="252B36"/>
                </a:solidFill>
                <a:latin typeface="Microsoft YaHei"/>
              </a:rPr>
              <a:t>。</a:t>
            </a:r>
          </a:p>
        </p:txBody>
      </p:sp>
      <p:sp>
        <p:nvSpPr>
          <p:cNvPr id="102" name="TextBox 42">
            <a:extLst>
              <a:ext uri="{FF2B5EF4-FFF2-40B4-BE49-F238E27FC236}">
                <a16:creationId xmlns:a16="http://schemas.microsoft.com/office/drawing/2014/main" id="{5B1A9718-0C7B-1852-0F3E-E4023575BE94}"/>
              </a:ext>
            </a:extLst>
          </p:cNvPr>
          <p:cNvSpPr txBox="1"/>
          <p:nvPr/>
        </p:nvSpPr>
        <p:spPr>
          <a:xfrm>
            <a:off x="385620" y="5983260"/>
            <a:ext cx="90000" cy="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90" b="1">
                <a:solidFill>
                  <a:srgbClr val="B0542B"/>
                </a:solidFill>
                <a:latin typeface="Microsoft YaHei"/>
              </a:rPr>
              <a:t>•</a:t>
            </a:r>
          </a:p>
        </p:txBody>
      </p:sp>
      <p:sp>
        <p:nvSpPr>
          <p:cNvPr id="103" name="TextBox 43">
            <a:extLst>
              <a:ext uri="{FF2B5EF4-FFF2-40B4-BE49-F238E27FC236}">
                <a16:creationId xmlns:a16="http://schemas.microsoft.com/office/drawing/2014/main" id="{FFA49B5F-0E95-8D4E-F1F0-23E3EAFE7938}"/>
              </a:ext>
            </a:extLst>
          </p:cNvPr>
          <p:cNvSpPr txBox="1"/>
          <p:nvPr/>
        </p:nvSpPr>
        <p:spPr>
          <a:xfrm>
            <a:off x="511619" y="5983260"/>
            <a:ext cx="6425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90" b="0" dirty="0" err="1">
                <a:solidFill>
                  <a:srgbClr val="252B36"/>
                </a:solidFill>
                <a:latin typeface="Microsoft YaHei"/>
              </a:rPr>
              <a:t>参与中学教育领域智能体开发，围绕阅卷、检索、推荐等任务梳理业务流程与交互逻辑</a:t>
            </a:r>
            <a:r>
              <a:rPr sz="790" b="0" dirty="0">
                <a:solidFill>
                  <a:srgbClr val="252B36"/>
                </a:solidFill>
                <a:latin typeface="Microsoft YaHei"/>
              </a:rPr>
              <a:t>。</a:t>
            </a:r>
          </a:p>
        </p:txBody>
      </p:sp>
      <p:sp>
        <p:nvSpPr>
          <p:cNvPr id="104" name="TextBox 46">
            <a:extLst>
              <a:ext uri="{FF2B5EF4-FFF2-40B4-BE49-F238E27FC236}">
                <a16:creationId xmlns:a16="http://schemas.microsoft.com/office/drawing/2014/main" id="{BF6864B0-7B44-E95C-4A75-1C8907E607C8}"/>
              </a:ext>
            </a:extLst>
          </p:cNvPr>
          <p:cNvSpPr txBox="1"/>
          <p:nvPr/>
        </p:nvSpPr>
        <p:spPr>
          <a:xfrm>
            <a:off x="450000" y="4021654"/>
            <a:ext cx="6372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 err="1">
                <a:solidFill>
                  <a:srgbClr val="5B6473"/>
                </a:solidFill>
                <a:latin typeface="Microsoft YaHei"/>
              </a:rPr>
              <a:t>技术栈：Python、PyTorch、</a:t>
            </a:r>
            <a:r>
              <a:rPr lang="en-US" sz="800" b="0" dirty="0" err="1">
                <a:solidFill>
                  <a:srgbClr val="5B6473"/>
                </a:solidFill>
                <a:latin typeface="Microsoft YaHei"/>
              </a:rPr>
              <a:t>T</a:t>
            </a:r>
            <a:r>
              <a:rPr lang="en-US" altLang="zh-CN" sz="800" b="0" dirty="0" err="1">
                <a:solidFill>
                  <a:srgbClr val="5B6473"/>
                </a:solidFill>
                <a:latin typeface="Microsoft YaHei"/>
              </a:rPr>
              <a:t>ensorRT</a:t>
            </a:r>
            <a:r>
              <a:rPr lang="zh-CN" altLang="en-US" sz="800" b="0" dirty="0">
                <a:solidFill>
                  <a:srgbClr val="5B647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sz="800" b="0" dirty="0">
                <a:solidFill>
                  <a:srgbClr val="5B6473"/>
                </a:solidFill>
                <a:latin typeface="Microsoft YaHei"/>
              </a:rPr>
              <a:t>YOLO、PaddleOCR、MMAction2、Docker、OpenClaw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1600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 err="1">
                <a:solidFill>
                  <a:srgbClr val="1F3C88"/>
                </a:solidFill>
                <a:latin typeface="Microsoft YaHei"/>
              </a:rPr>
              <a:t>胡庆龙</a:t>
            </a:r>
            <a:r>
              <a:rPr sz="1500" b="1" dirty="0">
                <a:solidFill>
                  <a:srgbClr val="1F3C88"/>
                </a:solidFill>
                <a:latin typeface="Microsoft YaHei"/>
              </a:rPr>
              <a:t> | </a:t>
            </a:r>
            <a:r>
              <a:rPr sz="1500" b="1" dirty="0" err="1">
                <a:solidFill>
                  <a:srgbClr val="1F3C88"/>
                </a:solidFill>
                <a:latin typeface="Microsoft YaHei"/>
              </a:rPr>
              <a:t>通用算法岗简历</a:t>
            </a:r>
            <a:endParaRPr sz="1500" b="1" dirty="0">
              <a:solidFill>
                <a:srgbClr val="1F3C88"/>
              </a:solidFill>
              <a:latin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60000" y="270000"/>
            <a:ext cx="306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30" b="0" dirty="0" err="1">
                <a:solidFill>
                  <a:srgbClr val="5B6473"/>
                </a:solidFill>
                <a:latin typeface="Microsoft YaHei"/>
              </a:rPr>
              <a:t>项目经历与综合能力</a:t>
            </a:r>
            <a:endParaRPr sz="830" b="0" dirty="0">
              <a:solidFill>
                <a:srgbClr val="5B6473"/>
              </a:solidFill>
              <a:latin typeface="Microsoft YaHe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0000" y="558000"/>
            <a:ext cx="6840000" cy="14400"/>
          </a:xfrm>
          <a:prstGeom prst="rect">
            <a:avLst/>
          </a:prstGeom>
          <a:solidFill>
            <a:srgbClr val="CF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0000" y="756000"/>
            <a:ext cx="1404000" cy="198000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4800" y="746700"/>
            <a:ext cx="1224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dirty="0" err="1">
                <a:solidFill>
                  <a:srgbClr val="FFFFFF"/>
                </a:solidFill>
                <a:latin typeface="Microsoft YaHei"/>
              </a:rPr>
              <a:t>项目经历</a:t>
            </a:r>
            <a:endParaRPr sz="1000" b="1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45999" y="856800"/>
            <a:ext cx="5112000" cy="14400"/>
          </a:xfrm>
          <a:prstGeom prst="rect">
            <a:avLst/>
          </a:prstGeom>
          <a:solidFill>
            <a:srgbClr val="CF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8000" y="2057460"/>
            <a:ext cx="4752000" cy="233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19" b="1" dirty="0">
                <a:solidFill>
                  <a:srgbClr val="1F3C88"/>
                </a:solidFill>
                <a:latin typeface="Microsoft YaHei"/>
              </a:rPr>
              <a:t>5</a:t>
            </a:r>
            <a:r>
              <a:rPr sz="919" b="1" dirty="0">
                <a:solidFill>
                  <a:srgbClr val="1F3C88"/>
                </a:solidFill>
                <a:latin typeface="Microsoft YaHei"/>
              </a:rPr>
              <a:t>. </a:t>
            </a:r>
            <a:r>
              <a:rPr sz="919" b="1" dirty="0" err="1">
                <a:solidFill>
                  <a:srgbClr val="1F3C88"/>
                </a:solidFill>
                <a:latin typeface="Microsoft YaHei"/>
              </a:rPr>
              <a:t>滑坡遥感语义分割项目</a:t>
            </a:r>
            <a:endParaRPr sz="919" b="1" dirty="0">
              <a:solidFill>
                <a:srgbClr val="1F3C88"/>
              </a:solidFill>
              <a:latin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27320" y="2064660"/>
            <a:ext cx="166457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750" b="0" dirty="0">
                <a:solidFill>
                  <a:srgbClr val="5B6473"/>
                </a:solidFill>
                <a:latin typeface="Microsoft YaHei"/>
              </a:rPr>
              <a:t> </a:t>
            </a:r>
            <a:r>
              <a:rPr sz="750" b="0" dirty="0" err="1">
                <a:solidFill>
                  <a:srgbClr val="5B6473"/>
                </a:solidFill>
                <a:latin typeface="Microsoft YaHei"/>
              </a:rPr>
              <a:t>硕士论文</a:t>
            </a:r>
            <a:r>
              <a:rPr sz="750" b="0" dirty="0">
                <a:solidFill>
                  <a:srgbClr val="5B6473"/>
                </a:solidFill>
                <a:latin typeface="Microsoft YaHei"/>
              </a:rPr>
              <a:t> | 2024.12 - 2026.03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" y="2237460"/>
            <a:ext cx="792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19" b="1">
                <a:solidFill>
                  <a:srgbClr val="1F3C88"/>
                </a:solidFill>
                <a:latin typeface="Microsoft YaHei"/>
              </a:rPr>
              <a:t>技术栈：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6000" y="2237460"/>
            <a:ext cx="5634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19" b="0">
                <a:solidFill>
                  <a:srgbClr val="252B36"/>
                </a:solidFill>
                <a:latin typeface="Microsoft YaHei"/>
              </a:rPr>
              <a:t>YOLOv8、YOLO-Landslide、DSConv、GDFPN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000" y="2388660"/>
            <a:ext cx="792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19" b="1">
                <a:solidFill>
                  <a:srgbClr val="1F3C88"/>
                </a:solidFill>
                <a:latin typeface="Microsoft YaHei"/>
              </a:rPr>
              <a:t>背景：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6000" y="2388660"/>
            <a:ext cx="5634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19" b="0">
                <a:solidFill>
                  <a:srgbClr val="252B36"/>
                </a:solidFill>
                <a:latin typeface="Microsoft YaHei"/>
              </a:rPr>
              <a:t>面向高分辨率无人机遥感图像滑坡识别，构建 881 张多场景像素级标注数据集，覆盖阴影、植被、雪盖等复杂环境。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000" y="2539860"/>
            <a:ext cx="792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19" b="1">
                <a:solidFill>
                  <a:srgbClr val="1F3C88"/>
                </a:solidFill>
                <a:latin typeface="Microsoft YaHei"/>
              </a:rPr>
              <a:t>工作：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6000" y="2539860"/>
            <a:ext cx="5634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19" b="0">
                <a:solidFill>
                  <a:srgbClr val="252B36"/>
                </a:solidFill>
                <a:latin typeface="Microsoft YaHei"/>
              </a:rPr>
              <a:t>完成数据集构建、模型改进、实验设计和结果验证，引入动态蛇形卷积、GDFPN 多尺度融合和轻量化检测头。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000" y="2691060"/>
            <a:ext cx="792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19" b="1">
                <a:solidFill>
                  <a:srgbClr val="1F3C88"/>
                </a:solidFill>
                <a:latin typeface="Microsoft YaHei"/>
              </a:rPr>
              <a:t>亮点：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6000" y="2691060"/>
            <a:ext cx="5634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19" b="0" dirty="0" err="1">
                <a:solidFill>
                  <a:srgbClr val="252B36"/>
                </a:solidFill>
                <a:latin typeface="Microsoft YaHei"/>
              </a:rPr>
              <a:t>在自建与公开数据集上</a:t>
            </a:r>
            <a:r>
              <a:rPr sz="819" b="0" dirty="0">
                <a:solidFill>
                  <a:srgbClr val="252B36"/>
                </a:solidFill>
                <a:latin typeface="Microsoft YaHei"/>
              </a:rPr>
              <a:t> </a:t>
            </a:r>
            <a:r>
              <a:rPr sz="819" b="0" dirty="0" err="1">
                <a:solidFill>
                  <a:srgbClr val="252B36"/>
                </a:solidFill>
                <a:latin typeface="Microsoft YaHei"/>
              </a:rPr>
              <a:t>mIoU</a:t>
            </a:r>
            <a:r>
              <a:rPr sz="819" b="0" dirty="0">
                <a:solidFill>
                  <a:srgbClr val="252B36"/>
                </a:solidFill>
                <a:latin typeface="Microsoft YaHei"/>
              </a:rPr>
              <a:t> </a:t>
            </a:r>
            <a:r>
              <a:rPr sz="819" b="0" dirty="0" err="1">
                <a:solidFill>
                  <a:srgbClr val="252B36"/>
                </a:solidFill>
                <a:latin typeface="Microsoft YaHei"/>
              </a:rPr>
              <a:t>最高提升</a:t>
            </a:r>
            <a:r>
              <a:rPr sz="819" b="0" dirty="0">
                <a:solidFill>
                  <a:srgbClr val="252B36"/>
                </a:solidFill>
                <a:latin typeface="Microsoft YaHei"/>
              </a:rPr>
              <a:t> 2.04%，</a:t>
            </a:r>
            <a:r>
              <a:rPr sz="819" b="0" dirty="0" err="1">
                <a:solidFill>
                  <a:srgbClr val="252B36"/>
                </a:solidFill>
                <a:latin typeface="Microsoft YaHei"/>
              </a:rPr>
              <a:t>小样本场景提升</a:t>
            </a:r>
            <a:r>
              <a:rPr sz="819" b="0" dirty="0">
                <a:solidFill>
                  <a:srgbClr val="252B36"/>
                </a:solidFill>
                <a:latin typeface="Microsoft YaHei"/>
              </a:rPr>
              <a:t> 5% </a:t>
            </a:r>
            <a:r>
              <a:rPr sz="819" b="0" dirty="0" err="1">
                <a:solidFill>
                  <a:srgbClr val="252B36"/>
                </a:solidFill>
                <a:latin typeface="Microsoft YaHei"/>
              </a:rPr>
              <a:t>以上，兼顾分割精度与轻量化</a:t>
            </a:r>
            <a:r>
              <a:rPr sz="819" b="0" dirty="0">
                <a:solidFill>
                  <a:srgbClr val="252B36"/>
                </a:solidFill>
                <a:latin typeface="Microsoft YaHei"/>
              </a:rPr>
              <a:t>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3102780"/>
            <a:ext cx="1404000" cy="198000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4800" y="3093480"/>
            <a:ext cx="1224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dirty="0" err="1">
                <a:solidFill>
                  <a:srgbClr val="FFFFFF"/>
                </a:solidFill>
                <a:latin typeface="Microsoft YaHei"/>
              </a:rPr>
              <a:t>能力总结</a:t>
            </a:r>
            <a:endParaRPr sz="1000" b="1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745999" y="3203580"/>
            <a:ext cx="5112000" cy="14400"/>
          </a:xfrm>
          <a:prstGeom prst="rect">
            <a:avLst/>
          </a:prstGeom>
          <a:solidFill>
            <a:srgbClr val="CF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8000" y="3408780"/>
            <a:ext cx="90000" cy="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30" b="1">
                <a:solidFill>
                  <a:srgbClr val="B0542B"/>
                </a:solidFill>
                <a:latin typeface="Microsoft YaHe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3999" y="3408780"/>
            <a:ext cx="6425999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30" b="0">
                <a:solidFill>
                  <a:srgbClr val="252B36"/>
                </a:solidFill>
                <a:latin typeface="Microsoft YaHei"/>
              </a:rPr>
              <a:t>算法实践：具备目标检测、OCR、视频分类、语义分割和多模态感知项目经验。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8000" y="3624780"/>
            <a:ext cx="90000" cy="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30" b="1">
                <a:solidFill>
                  <a:srgbClr val="B0542B"/>
                </a:solidFill>
                <a:latin typeface="Microsoft YaHe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3999" y="3624780"/>
            <a:ext cx="6425999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30" b="0">
                <a:solidFill>
                  <a:srgbClr val="252B36"/>
                </a:solidFill>
                <a:latin typeface="Microsoft YaHei"/>
              </a:rPr>
              <a:t>数据意识：重视数据清洗、划分策略、泄露检查和实验可信度，能从数据层面发现问题。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8000" y="3840780"/>
            <a:ext cx="90000" cy="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30" b="1">
                <a:solidFill>
                  <a:srgbClr val="B0542B"/>
                </a:solidFill>
                <a:latin typeface="Microsoft YaHe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3999" y="3840780"/>
            <a:ext cx="6425999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30" b="0">
                <a:solidFill>
                  <a:srgbClr val="252B36"/>
                </a:solidFill>
                <a:latin typeface="Microsoft YaHei"/>
              </a:rPr>
              <a:t>实验能力：能够完成模型训练、评估对比、消融分析、结果复盘和技术报告整理。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8000" y="4056780"/>
            <a:ext cx="90000" cy="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30" b="1">
                <a:solidFill>
                  <a:srgbClr val="B0542B"/>
                </a:solidFill>
                <a:latin typeface="Microsoft YaHe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3999" y="4056780"/>
            <a:ext cx="6425999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30" b="0">
                <a:solidFill>
                  <a:srgbClr val="252B36"/>
                </a:solidFill>
                <a:latin typeface="Microsoft YaHei"/>
              </a:rPr>
              <a:t>工程理解：接触 Docker、TensorRT、ONNX Runtime、Qwen 本地部署等模型部署与推理优化工具。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8000" y="4272780"/>
            <a:ext cx="90000" cy="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30" b="1">
                <a:solidFill>
                  <a:srgbClr val="B0542B"/>
                </a:solidFill>
                <a:latin typeface="Microsoft YaHe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3999" y="4272780"/>
            <a:ext cx="6425999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30" b="0">
                <a:solidFill>
                  <a:srgbClr val="252B36"/>
                </a:solidFill>
                <a:latin typeface="Microsoft YaHei"/>
              </a:rPr>
              <a:t>成长潜力：具备较强自学能力，持续关注大模型、多模态、Agent / OpenClaw 等 AI 工具链。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0000" y="4728960"/>
            <a:ext cx="1404000" cy="198000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4800" y="4719660"/>
            <a:ext cx="1224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dirty="0" err="1">
                <a:solidFill>
                  <a:srgbClr val="FFFFFF"/>
                </a:solidFill>
                <a:latin typeface="Microsoft YaHei"/>
              </a:rPr>
              <a:t>自我评价</a:t>
            </a:r>
            <a:endParaRPr sz="1000" b="1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745999" y="4829759"/>
            <a:ext cx="5112000" cy="14400"/>
          </a:xfrm>
          <a:prstGeom prst="rect">
            <a:avLst/>
          </a:prstGeom>
          <a:solidFill>
            <a:srgbClr val="CF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60000" y="10368000"/>
            <a:ext cx="6840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5B6473"/>
                </a:solidFill>
                <a:latin typeface="Microsoft YaHei"/>
              </a:rPr>
              <a:t>2 / 2</a:t>
            </a:r>
          </a:p>
        </p:txBody>
      </p:sp>
      <p:sp>
        <p:nvSpPr>
          <p:cNvPr id="61" name="TextBox 33">
            <a:extLst>
              <a:ext uri="{FF2B5EF4-FFF2-40B4-BE49-F238E27FC236}">
                <a16:creationId xmlns:a16="http://schemas.microsoft.com/office/drawing/2014/main" id="{E4202F6E-3A1B-82F6-49D0-6859EC0ED3AF}"/>
              </a:ext>
            </a:extLst>
          </p:cNvPr>
          <p:cNvSpPr txBox="1"/>
          <p:nvPr/>
        </p:nvSpPr>
        <p:spPr>
          <a:xfrm>
            <a:off x="378000" y="5032260"/>
            <a:ext cx="90000" cy="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19" b="1">
                <a:solidFill>
                  <a:srgbClr val="B0542B"/>
                </a:solidFill>
                <a:latin typeface="Microsoft YaHei"/>
              </a:rPr>
              <a:t>•</a:t>
            </a:r>
          </a:p>
        </p:txBody>
      </p:sp>
      <p:sp>
        <p:nvSpPr>
          <p:cNvPr id="62" name="TextBox 34">
            <a:extLst>
              <a:ext uri="{FF2B5EF4-FFF2-40B4-BE49-F238E27FC236}">
                <a16:creationId xmlns:a16="http://schemas.microsoft.com/office/drawing/2014/main" id="{0BE5F831-BB55-33EB-39AB-64A430AAB3DB}"/>
              </a:ext>
            </a:extLst>
          </p:cNvPr>
          <p:cNvSpPr txBox="1"/>
          <p:nvPr/>
        </p:nvSpPr>
        <p:spPr>
          <a:xfrm>
            <a:off x="503999" y="5032260"/>
            <a:ext cx="6425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19" b="0" dirty="0" err="1">
                <a:solidFill>
                  <a:srgbClr val="252B36"/>
                </a:solidFill>
                <a:latin typeface="Microsoft YaHei"/>
              </a:rPr>
              <a:t>具备较完整的算法与</a:t>
            </a:r>
            <a:r>
              <a:rPr sz="819" b="0" dirty="0">
                <a:solidFill>
                  <a:srgbClr val="252B36"/>
                </a:solidFill>
                <a:latin typeface="Microsoft YaHei"/>
              </a:rPr>
              <a:t> AI </a:t>
            </a:r>
            <a:r>
              <a:rPr sz="819" b="0" dirty="0" err="1">
                <a:solidFill>
                  <a:srgbClr val="252B36"/>
                </a:solidFill>
                <a:latin typeface="Microsoft YaHei"/>
              </a:rPr>
              <a:t>应用项目实践经历，能够完成从数据整理、模型训练、实验对比到报告总结的基本闭环</a:t>
            </a:r>
            <a:r>
              <a:rPr sz="819" b="0" dirty="0">
                <a:solidFill>
                  <a:srgbClr val="252B36"/>
                </a:solidFill>
                <a:latin typeface="Microsoft YaHei"/>
              </a:rPr>
              <a:t>。</a:t>
            </a:r>
          </a:p>
        </p:txBody>
      </p:sp>
      <p:sp>
        <p:nvSpPr>
          <p:cNvPr id="63" name="TextBox 35">
            <a:extLst>
              <a:ext uri="{FF2B5EF4-FFF2-40B4-BE49-F238E27FC236}">
                <a16:creationId xmlns:a16="http://schemas.microsoft.com/office/drawing/2014/main" id="{C52297BB-D236-3EE1-6A3B-C4CC32F781E3}"/>
              </a:ext>
            </a:extLst>
          </p:cNvPr>
          <p:cNvSpPr txBox="1"/>
          <p:nvPr/>
        </p:nvSpPr>
        <p:spPr>
          <a:xfrm>
            <a:off x="378000" y="5291460"/>
            <a:ext cx="90000" cy="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19" b="1">
                <a:solidFill>
                  <a:srgbClr val="B0542B"/>
                </a:solidFill>
                <a:latin typeface="Microsoft YaHei"/>
              </a:rPr>
              <a:t>•</a:t>
            </a:r>
          </a:p>
        </p:txBody>
      </p:sp>
      <p:sp>
        <p:nvSpPr>
          <p:cNvPr id="64" name="TextBox 36">
            <a:extLst>
              <a:ext uri="{FF2B5EF4-FFF2-40B4-BE49-F238E27FC236}">
                <a16:creationId xmlns:a16="http://schemas.microsoft.com/office/drawing/2014/main" id="{D75A29B8-0084-9117-B7CD-2101958D690B}"/>
              </a:ext>
            </a:extLst>
          </p:cNvPr>
          <p:cNvSpPr txBox="1"/>
          <p:nvPr/>
        </p:nvSpPr>
        <p:spPr>
          <a:xfrm>
            <a:off x="503999" y="5291460"/>
            <a:ext cx="6425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19" b="0" dirty="0" err="1">
                <a:solidFill>
                  <a:srgbClr val="252B36"/>
                </a:solidFill>
                <a:latin typeface="Microsoft YaHei"/>
              </a:rPr>
              <a:t>对计算机视觉、OCR、多模态感知、RAG</a:t>
            </a:r>
            <a:r>
              <a:rPr sz="819" b="0" dirty="0">
                <a:solidFill>
                  <a:srgbClr val="252B36"/>
                </a:solidFill>
                <a:latin typeface="Microsoft YaHei"/>
              </a:rPr>
              <a:t> </a:t>
            </a:r>
            <a:r>
              <a:rPr sz="819" b="0" dirty="0" err="1">
                <a:solidFill>
                  <a:srgbClr val="252B36"/>
                </a:solidFill>
                <a:latin typeface="Microsoft YaHei"/>
              </a:rPr>
              <a:t>和大模型应用保持持续关注，具备较强学习意愿和技术迁移能力</a:t>
            </a:r>
            <a:r>
              <a:rPr sz="819" b="0" dirty="0">
                <a:solidFill>
                  <a:srgbClr val="252B36"/>
                </a:solidFill>
                <a:latin typeface="Microsoft YaHei"/>
              </a:rPr>
              <a:t>。</a:t>
            </a:r>
          </a:p>
        </p:txBody>
      </p:sp>
      <p:sp>
        <p:nvSpPr>
          <p:cNvPr id="65" name="TextBox 37">
            <a:extLst>
              <a:ext uri="{FF2B5EF4-FFF2-40B4-BE49-F238E27FC236}">
                <a16:creationId xmlns:a16="http://schemas.microsoft.com/office/drawing/2014/main" id="{7BCAFD87-D029-47F2-1F2B-28743677A398}"/>
              </a:ext>
            </a:extLst>
          </p:cNvPr>
          <p:cNvSpPr txBox="1"/>
          <p:nvPr/>
        </p:nvSpPr>
        <p:spPr>
          <a:xfrm>
            <a:off x="378000" y="5550660"/>
            <a:ext cx="90000" cy="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19" b="1">
                <a:solidFill>
                  <a:srgbClr val="B0542B"/>
                </a:solidFill>
                <a:latin typeface="Microsoft YaHei"/>
              </a:rPr>
              <a:t>•</a:t>
            </a:r>
          </a:p>
        </p:txBody>
      </p:sp>
      <p:sp>
        <p:nvSpPr>
          <p:cNvPr id="66" name="TextBox 38">
            <a:extLst>
              <a:ext uri="{FF2B5EF4-FFF2-40B4-BE49-F238E27FC236}">
                <a16:creationId xmlns:a16="http://schemas.microsoft.com/office/drawing/2014/main" id="{FA226B6B-4AEB-0E01-BFC0-882E2C066B07}"/>
              </a:ext>
            </a:extLst>
          </p:cNvPr>
          <p:cNvSpPr txBox="1"/>
          <p:nvPr/>
        </p:nvSpPr>
        <p:spPr>
          <a:xfrm>
            <a:off x="503999" y="5550660"/>
            <a:ext cx="6425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19" b="0" dirty="0" err="1">
                <a:solidFill>
                  <a:srgbClr val="252B36"/>
                </a:solidFill>
                <a:latin typeface="Microsoft YaHei"/>
              </a:rPr>
              <a:t>注重实验可信度和问题复盘，能够在项目中主动发现数据、流程或评估环节的问题，并推动改进</a:t>
            </a:r>
            <a:r>
              <a:rPr sz="819" b="0" dirty="0">
                <a:solidFill>
                  <a:srgbClr val="252B36"/>
                </a:solidFill>
                <a:latin typeface="Microsoft YaHei"/>
              </a:rPr>
              <a:t>。</a:t>
            </a:r>
          </a:p>
        </p:txBody>
      </p:sp>
      <p:sp>
        <p:nvSpPr>
          <p:cNvPr id="67" name="TextBox 40">
            <a:extLst>
              <a:ext uri="{FF2B5EF4-FFF2-40B4-BE49-F238E27FC236}">
                <a16:creationId xmlns:a16="http://schemas.microsoft.com/office/drawing/2014/main" id="{9608C942-851F-6091-5A56-003AEF27F409}"/>
              </a:ext>
            </a:extLst>
          </p:cNvPr>
          <p:cNvSpPr txBox="1"/>
          <p:nvPr/>
        </p:nvSpPr>
        <p:spPr>
          <a:xfrm>
            <a:off x="401940" y="977520"/>
            <a:ext cx="4752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19" b="1" dirty="0">
                <a:solidFill>
                  <a:srgbClr val="1F3C88"/>
                </a:solidFill>
                <a:latin typeface="Microsoft YaHei"/>
              </a:rPr>
              <a:t>4. </a:t>
            </a:r>
            <a:r>
              <a:rPr sz="919" b="1" dirty="0" err="1">
                <a:solidFill>
                  <a:srgbClr val="1F3C88"/>
                </a:solidFill>
                <a:latin typeface="Microsoft YaHei"/>
              </a:rPr>
              <a:t>教育场景</a:t>
            </a:r>
            <a:r>
              <a:rPr sz="919" b="1" dirty="0">
                <a:solidFill>
                  <a:srgbClr val="1F3C88"/>
                </a:solidFill>
                <a:latin typeface="Microsoft YaHei"/>
              </a:rPr>
              <a:t> RAG </a:t>
            </a:r>
            <a:r>
              <a:rPr sz="919" b="1" dirty="0" err="1">
                <a:solidFill>
                  <a:srgbClr val="1F3C88"/>
                </a:solidFill>
                <a:latin typeface="Microsoft YaHei"/>
              </a:rPr>
              <a:t>知识检索与智能体应用</a:t>
            </a:r>
            <a:endParaRPr sz="919" b="1" dirty="0">
              <a:solidFill>
                <a:srgbClr val="1F3C88"/>
              </a:solidFill>
              <a:latin typeface="Microsoft YaHei"/>
            </a:endParaRPr>
          </a:p>
        </p:txBody>
      </p:sp>
      <p:sp>
        <p:nvSpPr>
          <p:cNvPr id="68" name="TextBox 41">
            <a:extLst>
              <a:ext uri="{FF2B5EF4-FFF2-40B4-BE49-F238E27FC236}">
                <a16:creationId xmlns:a16="http://schemas.microsoft.com/office/drawing/2014/main" id="{29839268-D6D2-4A1C-22AB-FCC95855379E}"/>
              </a:ext>
            </a:extLst>
          </p:cNvPr>
          <p:cNvSpPr txBox="1"/>
          <p:nvPr/>
        </p:nvSpPr>
        <p:spPr>
          <a:xfrm>
            <a:off x="5446800" y="992340"/>
            <a:ext cx="1440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dirty="0">
                <a:solidFill>
                  <a:srgbClr val="5B6473"/>
                </a:solidFill>
                <a:latin typeface="Microsoft YaHei"/>
              </a:rPr>
              <a:t>2025.03 - 2025.07</a:t>
            </a:r>
          </a:p>
        </p:txBody>
      </p:sp>
      <p:sp>
        <p:nvSpPr>
          <p:cNvPr id="69" name="TextBox 42">
            <a:extLst>
              <a:ext uri="{FF2B5EF4-FFF2-40B4-BE49-F238E27FC236}">
                <a16:creationId xmlns:a16="http://schemas.microsoft.com/office/drawing/2014/main" id="{66054E64-BBC2-2CE2-5DF1-978D703B573B}"/>
              </a:ext>
            </a:extLst>
          </p:cNvPr>
          <p:cNvSpPr txBox="1"/>
          <p:nvPr/>
        </p:nvSpPr>
        <p:spPr>
          <a:xfrm>
            <a:off x="496800" y="1172340"/>
            <a:ext cx="612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1F3C88"/>
                </a:solidFill>
                <a:latin typeface="Microsoft YaHei"/>
              </a:rPr>
              <a:t>技术栈：</a:t>
            </a:r>
          </a:p>
        </p:txBody>
      </p:sp>
      <p:sp>
        <p:nvSpPr>
          <p:cNvPr id="70" name="TextBox 43">
            <a:extLst>
              <a:ext uri="{FF2B5EF4-FFF2-40B4-BE49-F238E27FC236}">
                <a16:creationId xmlns:a16="http://schemas.microsoft.com/office/drawing/2014/main" id="{5AA26617-05EA-0239-38D1-6846085D9AA2}"/>
              </a:ext>
            </a:extLst>
          </p:cNvPr>
          <p:cNvSpPr txBox="1"/>
          <p:nvPr/>
        </p:nvSpPr>
        <p:spPr>
          <a:xfrm>
            <a:off x="1054799" y="1172340"/>
            <a:ext cx="574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252B36"/>
                </a:solidFill>
                <a:latin typeface="Microsoft YaHei"/>
              </a:rPr>
              <a:t>RAG、Milvus、LangChain、Coze（扣子）、Prompt Engineering、Agent</a:t>
            </a:r>
          </a:p>
        </p:txBody>
      </p:sp>
      <p:sp>
        <p:nvSpPr>
          <p:cNvPr id="71" name="TextBox 44">
            <a:extLst>
              <a:ext uri="{FF2B5EF4-FFF2-40B4-BE49-F238E27FC236}">
                <a16:creationId xmlns:a16="http://schemas.microsoft.com/office/drawing/2014/main" id="{FEBC83A2-3BAD-3E91-A643-CA0720092901}"/>
              </a:ext>
            </a:extLst>
          </p:cNvPr>
          <p:cNvSpPr txBox="1"/>
          <p:nvPr/>
        </p:nvSpPr>
        <p:spPr>
          <a:xfrm>
            <a:off x="496800" y="1337940"/>
            <a:ext cx="612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1F3C88"/>
                </a:solidFill>
                <a:latin typeface="Microsoft YaHei"/>
              </a:rPr>
              <a:t>背景：</a:t>
            </a:r>
          </a:p>
        </p:txBody>
      </p:sp>
      <p:sp>
        <p:nvSpPr>
          <p:cNvPr id="72" name="TextBox 45">
            <a:extLst>
              <a:ext uri="{FF2B5EF4-FFF2-40B4-BE49-F238E27FC236}">
                <a16:creationId xmlns:a16="http://schemas.microsoft.com/office/drawing/2014/main" id="{073817CC-C83B-5729-BF5E-0D645520670D}"/>
              </a:ext>
            </a:extLst>
          </p:cNvPr>
          <p:cNvSpPr txBox="1"/>
          <p:nvPr/>
        </p:nvSpPr>
        <p:spPr>
          <a:xfrm>
            <a:off x="1054799" y="1337940"/>
            <a:ext cx="574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252B36"/>
                </a:solidFill>
                <a:latin typeface="Microsoft YaHei"/>
              </a:rPr>
              <a:t>面向中学教育智能化场景，围绕题库、错题本和高中知识内容构建本地知识库与智能检索能力。</a:t>
            </a:r>
          </a:p>
        </p:txBody>
      </p:sp>
      <p:sp>
        <p:nvSpPr>
          <p:cNvPr id="73" name="TextBox 46">
            <a:extLst>
              <a:ext uri="{FF2B5EF4-FFF2-40B4-BE49-F238E27FC236}">
                <a16:creationId xmlns:a16="http://schemas.microsoft.com/office/drawing/2014/main" id="{D75710A4-0FA3-80F6-DF94-CDAC49B265B0}"/>
              </a:ext>
            </a:extLst>
          </p:cNvPr>
          <p:cNvSpPr txBox="1"/>
          <p:nvPr/>
        </p:nvSpPr>
        <p:spPr>
          <a:xfrm>
            <a:off x="496800" y="1517940"/>
            <a:ext cx="612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1F3C88"/>
                </a:solidFill>
                <a:latin typeface="Microsoft YaHei"/>
              </a:rPr>
              <a:t>工作：</a:t>
            </a:r>
          </a:p>
        </p:txBody>
      </p:sp>
      <p:sp>
        <p:nvSpPr>
          <p:cNvPr id="74" name="TextBox 47">
            <a:extLst>
              <a:ext uri="{FF2B5EF4-FFF2-40B4-BE49-F238E27FC236}">
                <a16:creationId xmlns:a16="http://schemas.microsoft.com/office/drawing/2014/main" id="{0320AE76-562C-0488-73B7-6F8402B72115}"/>
              </a:ext>
            </a:extLst>
          </p:cNvPr>
          <p:cNvSpPr txBox="1"/>
          <p:nvPr/>
        </p:nvSpPr>
        <p:spPr>
          <a:xfrm>
            <a:off x="1054799" y="1517940"/>
            <a:ext cx="574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252B36"/>
                </a:solidFill>
                <a:latin typeface="Microsoft YaHei"/>
              </a:rPr>
              <a:t>参与知识库构建、向量检索流程、错题推荐、智能阅卷和教育智能体功能开发与评估。</a:t>
            </a:r>
          </a:p>
        </p:txBody>
      </p:sp>
      <p:sp>
        <p:nvSpPr>
          <p:cNvPr id="75" name="TextBox 48">
            <a:extLst>
              <a:ext uri="{FF2B5EF4-FFF2-40B4-BE49-F238E27FC236}">
                <a16:creationId xmlns:a16="http://schemas.microsoft.com/office/drawing/2014/main" id="{1C9591E5-40ED-F761-8B49-E6E52C44FC14}"/>
              </a:ext>
            </a:extLst>
          </p:cNvPr>
          <p:cNvSpPr txBox="1"/>
          <p:nvPr/>
        </p:nvSpPr>
        <p:spPr>
          <a:xfrm>
            <a:off x="496800" y="1697940"/>
            <a:ext cx="612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1F3C88"/>
                </a:solidFill>
                <a:latin typeface="Microsoft YaHei"/>
              </a:rPr>
              <a:t>亮点：</a:t>
            </a:r>
          </a:p>
        </p:txBody>
      </p:sp>
      <p:sp>
        <p:nvSpPr>
          <p:cNvPr id="76" name="TextBox 49">
            <a:extLst>
              <a:ext uri="{FF2B5EF4-FFF2-40B4-BE49-F238E27FC236}">
                <a16:creationId xmlns:a16="http://schemas.microsoft.com/office/drawing/2014/main" id="{70E0DC72-02C0-A9F8-78F7-73F19E483993}"/>
              </a:ext>
            </a:extLst>
          </p:cNvPr>
          <p:cNvSpPr txBox="1"/>
          <p:nvPr/>
        </p:nvSpPr>
        <p:spPr>
          <a:xfrm>
            <a:off x="1054799" y="1697940"/>
            <a:ext cx="574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 err="1">
                <a:solidFill>
                  <a:srgbClr val="252B36"/>
                </a:solidFill>
                <a:latin typeface="Microsoft YaHei"/>
              </a:rPr>
              <a:t>将大模型能力落到具体教育业务流程中，兼顾知识检索准确性、回答可用性和产品交互体验</a:t>
            </a:r>
            <a:r>
              <a:rPr sz="800" b="0" dirty="0">
                <a:solidFill>
                  <a:srgbClr val="252B36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959</TotalTime>
  <Words>638</Words>
  <Application>Microsoft Office PowerPoint</Application>
  <PresentationFormat>自定义</PresentationFormat>
  <Paragraphs>121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Microsoft YaHei</vt:lpstr>
      <vt:lpstr>Microsoft YaHei</vt:lpstr>
      <vt:lpstr>Arial</vt:lpstr>
      <vt:lpstr>Calibri</vt:lpstr>
      <vt:lpstr>Office Theme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aeleen 胡</cp:lastModifiedBy>
  <cp:revision>5</cp:revision>
  <dcterms:created xsi:type="dcterms:W3CDTF">2013-01-27T09:14:16Z</dcterms:created>
  <dcterms:modified xsi:type="dcterms:W3CDTF">2026-04-27T00:59:30Z</dcterms:modified>
  <cp:category/>
</cp:coreProperties>
</file>